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4" r:id="rId4"/>
    <p:sldId id="265" r:id="rId5"/>
    <p:sldId id="260" r:id="rId6"/>
    <p:sldId id="266" r:id="rId7"/>
    <p:sldId id="267" r:id="rId8"/>
    <p:sldId id="268" r:id="rId9"/>
    <p:sldId id="282" r:id="rId10"/>
    <p:sldId id="279" r:id="rId11"/>
    <p:sldId id="270" r:id="rId12"/>
    <p:sldId id="280" r:id="rId13"/>
    <p:sldId id="281" r:id="rId14"/>
    <p:sldId id="278" r:id="rId15"/>
    <p:sldId id="277" r:id="rId16"/>
    <p:sldId id="276" r:id="rId17"/>
    <p:sldId id="283" r:id="rId18"/>
    <p:sldId id="284" r:id="rId19"/>
    <p:sldId id="285" r:id="rId20"/>
    <p:sldId id="286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599B0-2F3C-4F52-95E9-C7AAAB4D168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30150E-C63E-4DA9-A5CC-B62FFA52A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3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2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CBB3-CD33-83DA-A561-5151E858B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E1A02-7DA0-1B3C-4CA3-77213DB5D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AC5E0-0FBD-E938-F9F6-221DF8C2F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B95D7-E5B1-7AD5-46BF-9496145C1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39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4CBA-A141-0899-3E4D-48516C31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50A39-D040-1DC1-3D70-B285BA3F6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54638-17BB-3944-4403-52F12AE9F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0CFF6-07FF-5BB7-B0F6-2D54848FD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72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48B0E-478D-EE0F-A43B-586360C3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EE40C-DAF2-4E08-F8BE-1D65E29E2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46A41-E3F5-C829-9C95-D9A5115E3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3EF9-BDAD-7470-5BA1-12645FA09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27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3DD3-B52F-D080-4F9C-BA579B63B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56F6C-2CE0-A6BF-9250-29DA69C4A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B3328-E379-6FC5-73B0-F953F49E2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C090F-705E-8029-A809-DF3FD29A9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45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3A18F-AFA9-9F18-E83A-BF613629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1393C-D29B-B59D-81CE-5809B1C62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CD189-6F47-6917-0497-4D61117D8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9E129-873F-E953-EF21-1F27E376A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28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1079-807E-D9D8-AFB0-9E64FB51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4AB86-AB74-1406-FD9C-F2A6FAEAE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87071-EC30-9398-CBE2-A79AF6159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F0B93-D5B6-1E84-E548-12A4B2B3A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13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FF54-25CD-AEAD-321B-D1B74087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AC89D-670A-18B4-2BFC-9394D1A6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868F9-0E7C-D1FE-07A1-405E56801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D7E3F-AEA6-B03D-9507-B1FA2C397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27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92DD-3DF4-0AAB-188C-913E6C93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E6FFB-FDA2-A12D-EA6A-2AF6CBBC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56674-CD7A-5EA9-2A58-9D9AB50D0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9523B-4299-6429-75CF-BB4253A1B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45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A788-4834-90A8-DA5D-6F0FC96F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5B843-E62D-60CD-BA0C-B9739BB8E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B8342-BFF6-37EA-B1E9-99A91EBB8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423D6-2B25-A790-ACDC-9F1260492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18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5F790-2683-468C-9EF4-D5420BE4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79835-1726-3016-81A6-EEF3DE4C4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EDCAB-BC5B-C27F-832F-4ADB457AF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2CB12-5172-DBB5-2225-E15CFDFE2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65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B75A-43FF-861C-B939-367346A8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53BC3-072F-10B5-6D22-AAEC0B39E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22676-AC34-F513-F462-FE2880F1E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1AC49-F35C-110D-67A3-CD052D343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13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5B4D-9287-E963-8406-560B3A17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2AEAE-91E3-39EE-71D9-2728E31E1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65C11-BFAC-15F9-E300-55A26D7A3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16A6F-6772-345B-6737-B41E87EFA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74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2B93-3602-C739-8901-AB9BAF84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F9F5A-FC6E-416F-CC4E-FBE9DAB6A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90872-BF6E-DEEC-AA94-7FA357E81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7EE26-3AE4-F8F0-4100-A24096994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68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85FE1-5FBB-B064-EBC2-EAF345A72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12E33-D3F9-B05B-5C40-228806771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F02E7-1611-507A-6183-3A2A5120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18C10-6451-37A4-A428-67156DA25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06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6A21-7ECF-270E-05C2-E1733520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777BA-06D8-1FCE-6F38-D71317066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853F8-8C94-F19A-D11D-5ACBCEAEC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C7EA9-78E0-C7BC-35A8-6F5CA5617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1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2E286-4E4E-B39D-2428-9380A507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C5439-16D7-863F-4396-AA3B6DA00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E7883-D60A-DC12-A7F3-FA632DACD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EB278-3D0B-18CF-C44A-9D8409AAC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43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B6A7C-19DF-367F-F410-8EB960D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8DF2C-249F-0AAB-F3E4-78FB4CF54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9B58E-FF9C-972A-97F3-10266FB12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A2001-9B4A-C9A2-D375-23C5025ED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04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B2C5-7B43-4101-A67B-B4EEBBD6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3DBF0-09D1-8928-06DD-AFBD9B40A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28376-25D9-859F-6436-F88E546E4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65834-78B6-FE12-7529-2C8DD2B0A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135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1EC0B-D055-88AB-A828-8E1C4A72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2D688-7340-3A52-6FAD-37B6D34D2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95847-9829-5F18-2DE2-E4B2F8492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5E72F-6F57-FB4C-D223-F6A08ADAC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314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F530-B5AF-688E-6E8C-2B6C3166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2277E-4EF9-7AC1-E5CB-F5969078E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AD7C2-4995-9347-494E-4166544F7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7C017-9E56-4EF3-716B-BB4FE9816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3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FC247-FDC6-F7AF-79C1-EA69555B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F3BAE-2242-8F58-1421-91AEC5411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20E66-45B5-DC8E-7DCD-7B1436E86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127-11E9-372B-1902-D2964084D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196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DAC2-A36C-CBF2-79A8-DE68E4F7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970AE-9A72-4596-CCA4-820A7917D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725F1-7FD7-1AAE-AE4F-4018AB733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C224E-B720-14CD-1C4B-A6E9231B4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43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938E-2A21-6CFE-D0DE-0518CED1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C5905-219C-7494-1B58-319C2456C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1DFF4-DA61-281A-6616-915FB5708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A4C20-4D51-E4F8-5696-DF0B36FAA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0150E-C63E-4DA9-A5CC-B62FFA52AC3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42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3183-5A62-0FD6-B8CF-2C4A0D9DE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CAF6F-F588-1F3F-9647-1B5E9AB2C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828FF-6D1B-D34E-4A02-B21B86B6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B9257-9B8D-075C-CE08-902CEA94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7E5A-E738-5D01-9CC2-F8F9D11E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3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0D5A-6188-FF29-208C-19FB7479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5C122-21A3-D7F2-CB94-56E921052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0F778-9891-AE74-A0D2-F7E78CEA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5DB43-25C8-96E7-9383-15BA10B2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19D7-148E-53E1-E697-D3E578A4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7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65CD-B9C6-4326-71E5-CA7F0BEF1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3EA61-4ABA-2ACF-AD26-FC882F8CD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E42D-975F-E14C-05F5-ADDD382B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62D-3F13-A902-427B-408ADF6B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40A3C-E3FA-DFF3-F85F-40FCA3D7C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2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1B4B-9BF4-4005-0D93-8EF44C678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C0BA-5DDC-9890-2E2A-F48C6452C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D8C32-E5F7-36CA-6910-C0FFFFC6A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7725E-6442-751D-B9F3-39870ED7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C987B-0902-1017-3959-431335F0D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72571-41A6-7BB1-27C5-9AD8231A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1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AF2D-52E6-5790-059A-FB28A0C2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C316B-F604-32E2-71BB-D8E6D33E6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58A8A-A4E3-B681-8BE2-F2D3C0C7E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84B1C-3C6E-A45B-70AD-6A34928A6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5252D-6745-127F-B4C2-8D464A1A2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E8B367-F755-D851-26B3-BDCF7C4C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8CF092-15BE-2B85-E657-138E9342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071C6-1BEF-8944-C898-D4341481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6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F30A-A81D-4598-C12E-AA130CDD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735CF-0214-C371-55EA-02664AAD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F549D-9E5F-AA2A-5C6F-D86BC169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7E96F-1E2B-8AEC-5BDA-CAB2F01A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4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373FC2-2C1A-3F83-CD8D-0A72E2A5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BD0E9F-CE31-1AA7-0E5B-E3EB33DA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876D9-5BF4-C3A7-DEA3-5A7A8EC7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8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E6880-9473-185D-41BC-879325DF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E4075-FE3B-E868-077D-814387269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F7DF5-DE9F-8198-8BD2-6B8E6755E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576F7-E6CB-1C24-855E-30878A40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2DE12-9773-2EDA-D91F-6A4962EA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1491E-0165-301B-0E67-3D29EB9E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78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E9C3-2633-A5A8-5704-9B0907D4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87228-44E6-74B9-5BD0-69F4E98F5E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022D2-8D39-2B60-9974-42383359C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84A1E-5BFF-9B7C-8991-2196D161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30CC5-9EF1-658E-8F28-279114F0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670FF-01F2-0FA0-0403-031E0959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5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9C46-8050-7A76-1054-159A8864B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AFAF8-DAF4-10E7-B675-A26FD0276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22724-2E87-5593-3A02-A6CBF842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5145A-911C-6565-6578-870A529A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69831-C992-C432-9879-16B62D9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52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E070B0-1E29-79BB-5DC7-039824B0E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EC1DD-17FA-F206-D409-83B926867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F836B-A416-E8D8-407C-F0BD57491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53ED7-7B13-9453-0E11-E488055D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353D9-FDFB-4159-E00E-0A0E83FF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7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FB2B-5363-20C7-6F0B-55AD5D7A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54C7C-6BE0-8FBD-E8B8-A5A08D5F9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1C6A5-9347-C756-078E-CFB9A0916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3D477-9600-479A-AE34-EC27C455B1F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6667D-C072-C586-F072-F1EE33A0E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F2B6-D515-7820-5B2A-21D7FD165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9EFEA-0CCF-4704-AE06-9FE36E59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2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9A06-F2EE-2E4F-F4E9-905330F826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Kmlp</a:t>
            </a:r>
            <a:r>
              <a:rPr lang="en-US" dirty="0"/>
              <a:t>;[‘];</a:t>
            </a:r>
            <a:r>
              <a:rPr lang="en-US" dirty="0" err="1"/>
              <a:t>lmk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311CA-8808-AD58-A731-4EE991C677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20511-31F4-60FC-F2D8-D8B907984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Google Shape;176;p31">
            <a:extLst>
              <a:ext uri="{FF2B5EF4-FFF2-40B4-BE49-F238E27FC236}">
                <a16:creationId xmlns:a16="http://schemas.microsoft.com/office/drawing/2014/main" id="{623D6408-21F9-9D5E-6D0C-91F5D866DBC0}"/>
              </a:ext>
            </a:extLst>
          </p:cNvPr>
          <p:cNvSpPr txBox="1">
            <a:spLocks/>
          </p:cNvSpPr>
          <p:nvPr/>
        </p:nvSpPr>
        <p:spPr>
          <a:xfrm>
            <a:off x="750095" y="1900905"/>
            <a:ext cx="6958396" cy="19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BATR Performance Analysis &amp; Operational Improvement Plan</a:t>
            </a:r>
            <a:br>
              <a:rPr lang="fa-I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Data Analysis Project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ptos" panose="020B0004020202020204" pitchFamily="34" charset="0"/>
              <a:cs typeface="B Nazanin" panose="00000400000000000000" pitchFamily="2" charset="-78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D4C9A-64FB-491A-02E5-F248816FA57D}"/>
              </a:ext>
            </a:extLst>
          </p:cNvPr>
          <p:cNvSpPr txBox="1"/>
          <p:nvPr/>
        </p:nvSpPr>
        <p:spPr>
          <a:xfrm>
            <a:off x="501447" y="4255085"/>
            <a:ext cx="4955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 – mahdiaghaei.official@gmail.com</a:t>
            </a:r>
          </a:p>
        </p:txBody>
      </p:sp>
    </p:spTree>
    <p:extLst>
      <p:ext uri="{BB962C8B-B14F-4D97-AF65-F5344CB8AC3E}">
        <p14:creationId xmlns:p14="http://schemas.microsoft.com/office/powerpoint/2010/main" val="2955301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9237E8-B96D-7774-F267-71821A31B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2C9FB8-4C46-0855-CC95-39DF17A1C01B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AE300-5EDC-B250-AD6D-62DFB65BA69D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 of 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A41C4-3E1B-EDD7-903F-FDFF0731C90B}"/>
              </a:ext>
            </a:extLst>
          </p:cNvPr>
          <p:cNvSpPr txBox="1"/>
          <p:nvPr/>
        </p:nvSpPr>
        <p:spPr>
          <a:xfrm>
            <a:off x="0" y="678470"/>
            <a:ext cx="1218552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Table of Contents</a:t>
            </a:r>
            <a:endParaRPr lang="en-US" sz="2800" b="1" dirty="0">
              <a:solidFill>
                <a:srgbClr val="00B050"/>
              </a:solidFill>
              <a:cs typeface="B Nazanin" panose="00000400000000000000" pitchFamily="2" charset="-78"/>
            </a:endParaRPr>
          </a:p>
          <a:p>
            <a:pPr algn="ctr"/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36616-643B-1985-C905-39E2EE243038}"/>
              </a:ext>
            </a:extLst>
          </p:cNvPr>
          <p:cNvSpPr txBox="1"/>
          <p:nvPr/>
        </p:nvSpPr>
        <p:spPr>
          <a:xfrm>
            <a:off x="3705679" y="6389051"/>
            <a:ext cx="4774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BART Performance Analysis &amp; Operational Improvement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15A994-2E55-42B4-F697-DEF73F1E1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865698"/>
              </p:ext>
            </p:extLst>
          </p:nvPr>
        </p:nvGraphicFramePr>
        <p:xfrm>
          <a:off x="1111045" y="1663355"/>
          <a:ext cx="10441858" cy="4226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0929">
                  <a:extLst>
                    <a:ext uri="{9D8B030D-6E8A-4147-A177-3AD203B41FA5}">
                      <a16:colId xmlns:a16="http://schemas.microsoft.com/office/drawing/2014/main" val="3973117374"/>
                    </a:ext>
                  </a:extLst>
                </a:gridCol>
                <a:gridCol w="5220929">
                  <a:extLst>
                    <a:ext uri="{9D8B030D-6E8A-4147-A177-3AD203B41FA5}">
                      <a16:colId xmlns:a16="http://schemas.microsoft.com/office/drawing/2014/main" val="2889791438"/>
                    </a:ext>
                  </a:extLst>
                </a:gridCol>
              </a:tblGrid>
              <a:tr h="4226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1 - Understanding BATR &amp; Problem Definition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BATR components, performance gap, and regional structure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2 - Operational Monitoring Framework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Core KPIs and dashboard-based performance monitoring</a:t>
                      </a:r>
                    </a:p>
                    <a:p>
                      <a:pPr>
                        <a:buNone/>
                      </a:pP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3 - Performance Analysis</a:t>
                      </a:r>
                      <a:b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City-level gaps, trends over time, and geographic differences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4 - Bottleneck Diagnosis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Context-adjusted analysis and identification of Acceptance vs. Arrival problems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5 - Operational Response &amp; Early Intervention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Bottleneck-based actions, monitoring thresholds, and predictive early warning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6 - Recommended Pilots &amp; Next Steps</a:t>
                      </a:r>
                      <a:b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Targeted interventions, testing approach, and scaling decisions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574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25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63BDF-5396-B2CC-D8F8-BEBE6A72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ACBC3F-AEF0-81D9-2BA5-9D1FF92CB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A7FE57-5CAE-95F3-7AD3-F60F0EF88DCF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8429A-02B0-D16B-BEF8-6564EC4AFA08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 of 24</a:t>
            </a:r>
          </a:p>
        </p:txBody>
      </p:sp>
      <p:pic>
        <p:nvPicPr>
          <p:cNvPr id="2" name="Picture 1" descr="پیک موتوری آنلاین | ارسال سریع و پشتیبانی 24 ساعته">
            <a:extLst>
              <a:ext uri="{FF2B5EF4-FFF2-40B4-BE49-F238E27FC236}">
                <a16:creationId xmlns:a16="http://schemas.microsoft.com/office/drawing/2014/main" id="{F3E187F2-2CE2-2561-F6CB-73B47F0B9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133666" y="2313156"/>
            <a:ext cx="1214244" cy="1214244"/>
          </a:xfrm>
          <a:prstGeom prst="rect">
            <a:avLst/>
          </a:prstGeom>
        </p:spPr>
      </p:pic>
      <p:pic>
        <p:nvPicPr>
          <p:cNvPr id="3" name="Picture 2" descr="کارباکس» سرویس جدید اسنپ‌باکس، مخصوص حمل بسته با خودرو | باشگاه رانندگان  اسنپ">
            <a:extLst>
              <a:ext uri="{FF2B5EF4-FFF2-40B4-BE49-F238E27FC236}">
                <a16:creationId xmlns:a16="http://schemas.microsoft.com/office/drawing/2014/main" id="{6300518B-1737-7642-4923-EDDBF5B29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9" y="1396662"/>
            <a:ext cx="1482712" cy="3103426"/>
          </a:xfrm>
          <a:prstGeom prst="rect">
            <a:avLst/>
          </a:prstGeom>
        </p:spPr>
      </p:pic>
      <p:pic>
        <p:nvPicPr>
          <p:cNvPr id="4" name="Picture 3" descr="Restaurant Building in the City. Cafe Exterior Stock Vector - Illustration  of diner, design: 127031864">
            <a:extLst>
              <a:ext uri="{FF2B5EF4-FFF2-40B4-BE49-F238E27FC236}">
                <a16:creationId xmlns:a16="http://schemas.microsoft.com/office/drawing/2014/main" id="{9AC32951-2312-FD13-49D7-BD3D54324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958" y="1735853"/>
            <a:ext cx="3515711" cy="2346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7DA9EB-9F1C-2F22-4B79-13E22C6341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42" y="1268151"/>
            <a:ext cx="1764420" cy="3383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DEF4B0-38C1-A18F-AA5E-FFD0E1B2E7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5321" y="2224692"/>
            <a:ext cx="972652" cy="972652"/>
          </a:xfrm>
          <a:prstGeom prst="rect">
            <a:avLst/>
          </a:prstGeom>
        </p:spPr>
      </p:pic>
      <p:pic>
        <p:nvPicPr>
          <p:cNvPr id="17" name="Picture 16" descr="پیک موتوری آنلاین | ارسال سریع و پشتیبانی 24 ساعته">
            <a:extLst>
              <a:ext uri="{FF2B5EF4-FFF2-40B4-BE49-F238E27FC236}">
                <a16:creationId xmlns:a16="http://schemas.microsoft.com/office/drawing/2014/main" id="{73B574AF-2D52-64E7-5B39-1A8657657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590097" y="2327830"/>
            <a:ext cx="1214244" cy="1214244"/>
          </a:xfrm>
          <a:prstGeom prst="rect">
            <a:avLst/>
          </a:prstGeom>
        </p:spPr>
      </p:pic>
      <p:sp>
        <p:nvSpPr>
          <p:cNvPr id="18" name="Arrow: Right 17" descr="&#10;">
            <a:extLst>
              <a:ext uri="{FF2B5EF4-FFF2-40B4-BE49-F238E27FC236}">
                <a16:creationId xmlns:a16="http://schemas.microsoft.com/office/drawing/2014/main" id="{24C23793-6408-6153-3E31-F3644E51BE2A}"/>
              </a:ext>
            </a:extLst>
          </p:cNvPr>
          <p:cNvSpPr/>
          <p:nvPr/>
        </p:nvSpPr>
        <p:spPr>
          <a:xfrm>
            <a:off x="1147665" y="4781928"/>
            <a:ext cx="10392004" cy="520636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                                                               Biker Arrival at Restaurant Time (BART) 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95BDE49-E9A2-3A1A-4702-EFC8117054EF}"/>
              </a:ext>
            </a:extLst>
          </p:cNvPr>
          <p:cNvSpPr/>
          <p:nvPr/>
        </p:nvSpPr>
        <p:spPr>
          <a:xfrm>
            <a:off x="1147665" y="5417282"/>
            <a:ext cx="4394719" cy="520636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           Biker Acceptance Time (BAT)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3986C55-8A83-9B6D-9299-D08A0FAEF628}"/>
              </a:ext>
            </a:extLst>
          </p:cNvPr>
          <p:cNvSpPr/>
          <p:nvPr/>
        </p:nvSpPr>
        <p:spPr>
          <a:xfrm>
            <a:off x="5561044" y="5414185"/>
            <a:ext cx="5969294" cy="52063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Biker Post-Acceptance Arrival Time (BPAT)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82D80-1474-9EF1-7F7E-1B07D76597B6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Biker Arrival at Restaurant Time (BART)  </a:t>
            </a:r>
          </a:p>
        </p:txBody>
      </p:sp>
    </p:spTree>
    <p:extLst>
      <p:ext uri="{BB962C8B-B14F-4D97-AF65-F5344CB8AC3E}">
        <p14:creationId xmlns:p14="http://schemas.microsoft.com/office/powerpoint/2010/main" val="774911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596DB-E4F8-D40F-DCCC-BD22A7BC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5E64F2-7CA2-838D-97BA-06912B528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147B74-87E8-8621-6893-882226F82387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05215-8037-1004-97DC-4FCC000E541B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3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FB651B-FB79-ABD5-F38A-002F994CDE2D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What Is the Problem?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3961A-6357-4914-2363-66B61029A267}"/>
              </a:ext>
            </a:extLst>
          </p:cNvPr>
          <p:cNvSpPr txBox="1"/>
          <p:nvPr/>
        </p:nvSpPr>
        <p:spPr>
          <a:xfrm>
            <a:off x="1352550" y="1096632"/>
            <a:ext cx="9486900" cy="528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ATR performance is below the expected operational target, with overall </a:t>
            </a:r>
            <a:r>
              <a:rPr lang="en-US" dirty="0">
                <a:solidFill>
                  <a:srgbClr val="C00000"/>
                </a:solidFill>
                <a:cs typeface="B Nazanin" panose="00000400000000000000" pitchFamily="2" charset="-78"/>
              </a:rPr>
              <a:t>BATR15 at 77.45%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versus the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rgbClr val="00B050"/>
                </a:solidFill>
                <a:cs typeface="B Nazanin" panose="00000400000000000000" pitchFamily="2" charset="-78"/>
              </a:rPr>
              <a:t>90% target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key challenge is that poor BATR performance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can come from different parts of the process. Adelay may be caused by a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long Acceptance Time,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 long Arrival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Time, or both.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BATR can also vary significantly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across different locations and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time periods, with some cities,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districts, and peak hours performing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much worse than others.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7D02E0-B006-D7A8-C87C-7C6BB072C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725" y="2776434"/>
            <a:ext cx="5810894" cy="34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EB66A-470C-18F1-8621-C935ED4A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EDF3ED-618D-2FD5-E2B3-5EE8A28AD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5209FA-4459-9DB4-0DFA-661584560807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34AA9-EB4E-CD9D-B3E6-E6466E65E9E6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4 of 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FCD29F-06E0-E280-59D7-2112772FD619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Region Structure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B400BA1-D7E6-9308-B5B7-4CBB2AA19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08" y="1553273"/>
            <a:ext cx="11268183" cy="42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7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3D946-2948-D660-0459-DA1FB3F8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FEA408-FEBD-4292-7D6C-8AB1B1C33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45BC96-46EA-AE09-FD7A-C933FAA69295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6AF96-FD97-D5CA-81D7-3831FB806DCE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5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139FA8-85DF-EC02-B646-1A658F2B8B15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How We Monitor BATR Performance?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6E9D5C-D7B1-A835-6572-ED85C1525C0E}"/>
              </a:ext>
            </a:extLst>
          </p:cNvPr>
          <p:cNvSpPr txBox="1"/>
          <p:nvPr/>
        </p:nvSpPr>
        <p:spPr>
          <a:xfrm>
            <a:off x="1352550" y="1096632"/>
            <a:ext cx="9486900" cy="48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We monitor BATR through one Outcome KPI and four supporting operational indicators. Together, they show not only whether performance is deteriorating, but also where the deterioration is coming from.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Core KPIs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BATR15: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% of orders reaching the 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restaurant within 15 minutes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ALM15: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severity of delay among late orders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Acceptance P90: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tail performance before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acceptance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Delayed Offer Rate: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early warning for the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offer/acceptance process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Arrival P90: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tail performance after acceptance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F9B462-A08A-1C62-9787-2253E1CC0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56460"/>
            <a:ext cx="5427762" cy="303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7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7256-A7AA-7E20-2888-390EF5EF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CB01BA-28E6-8E35-6E0C-7E48A1E47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3E88DF-C135-7510-7606-3261AD11421B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3DAA3-9925-53F8-3AB8-67F31CE00064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6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9B9CE-0A0E-A0FE-5B11-9120FE78DAE8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Where Is the Largest Performance Gap?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097CCC-BD7F-8F95-36C5-9AC99E264F96}"/>
              </a:ext>
            </a:extLst>
          </p:cNvPr>
          <p:cNvSpPr txBox="1"/>
          <p:nvPr/>
        </p:nvSpPr>
        <p:spPr>
          <a:xfrm>
            <a:off x="1352550" y="1096632"/>
            <a:ext cx="9486900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first major difference appears at the city level.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B: BATR15 ≈ 90.3% — approximately on target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U: BATR15 ≈ 79.8% — below target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K: BATR15 ≈ 72.4% — weakest performance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K is especially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important because it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generates approximately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63.6% of all Late Orders.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Therefore, improving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City K provides the largest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opportunity for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network-level impact.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AB094-6EAB-9DF6-3A5A-AF100FB01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532" y="2960287"/>
            <a:ext cx="6941574" cy="321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3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CCB6-ED6F-CAA5-55CD-BA40C79B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823D88-BAFA-05CC-68CA-0846F1FEB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7802E8-A7E9-0C0B-AEDB-8D608CC4546C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AB350-6CFB-1A43-079B-05D158F4BF9C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7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714B7F-6AB8-AFD0-91AF-A80CD85575FD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Is the Problem Temporary or Persistent?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BBA3D-5E38-2F6E-3EEE-6309CD589F7F}"/>
              </a:ext>
            </a:extLst>
          </p:cNvPr>
          <p:cNvSpPr txBox="1"/>
          <p:nvPr/>
        </p:nvSpPr>
        <p:spPr>
          <a:xfrm>
            <a:off x="1352550" y="1096632"/>
            <a:ext cx="9486900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three cities show very different trends.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B gradually improved and exceeded the target in October.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K remained weak throughout the three-month period, suggesting a persistent operational issue rather than a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temporary shock.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U improved in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September but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deteriorated again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in October.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4C337-6DDC-D126-67AF-1ADD0EAAC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936" y="2531985"/>
            <a:ext cx="7315200" cy="362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7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3D83-5CE5-694B-8C44-103B0A0A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6AA7C5-388C-2D89-D6E7-F765C0DD1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B7168A-6467-94DE-134D-D26C6EF264ED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3225B-7DF2-1403-14F0-08438444B5A6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8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9A4069-3D68-EA0C-E0AD-1C8CFFAE435E}"/>
              </a:ext>
            </a:extLst>
          </p:cNvPr>
          <p:cNvSpPr txBox="1"/>
          <p:nvPr/>
        </p:nvSpPr>
        <p:spPr>
          <a:xfrm>
            <a:off x="1549889" y="566503"/>
            <a:ext cx="948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Data Preparation and Data Quality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FF68B-1074-A88C-65FA-3F5705603643}"/>
              </a:ext>
            </a:extLst>
          </p:cNvPr>
          <p:cNvSpPr txBox="1"/>
          <p:nvPr/>
        </p:nvSpPr>
        <p:spPr>
          <a:xfrm>
            <a:off x="1201718" y="1219183"/>
            <a:ext cx="94869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151,580 valid orders were analyzed, with an overall BATR15 of 77.45% versus the 90% target.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23,803 orders (15.7%) had inconsistent timestamps; these were retained for general KPIs but excluded from exact process decomposition.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 Sequential Cohort of 127,774 orders (84.3%) was used for Acceptance vs. Arrival analysis.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Small or temporary districts were treated cautiously to avoid misleading comparisons.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EE9C3C-D632-ABBB-923D-FEB13E070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823" y="3429000"/>
            <a:ext cx="9085161" cy="272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3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0A75-395F-B800-129A-DB17CC2B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EC4E79-6E82-FF9A-6ED2-B98C5DAC4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AFFFB1-12D2-3AB1-5FCC-00F079524889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F41A84-5C72-96C4-1174-02753EF2D681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9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3DA02-0B82-82A5-1854-EEF4C81D3002}"/>
              </a:ext>
            </a:extLst>
          </p:cNvPr>
          <p:cNvSpPr txBox="1"/>
          <p:nvPr/>
        </p:nvSpPr>
        <p:spPr>
          <a:xfrm>
            <a:off x="1549889" y="566503"/>
            <a:ext cx="948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Overall and City-Level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EB0B4-7D4A-44CD-059F-26CF42A64C44}"/>
              </a:ext>
            </a:extLst>
          </p:cNvPr>
          <p:cNvSpPr txBox="1"/>
          <p:nvPr/>
        </p:nvSpPr>
        <p:spPr>
          <a:xfrm>
            <a:off x="1201718" y="1219183"/>
            <a:ext cx="9486900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B meets the 90% target with 90.3% BATR15.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K is the weakest performer at 72.4% and generates 63.6% of all Late Orders.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U also remains below target at 79.8%.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A317D0-6370-9EF2-94E6-29A83C0E5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14" y="3429000"/>
            <a:ext cx="4916278" cy="16460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83BBB0-ECC6-695C-475E-18BD28433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168" y="2518065"/>
            <a:ext cx="5657643" cy="335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44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02923-A2E7-0314-3C89-D25D3ABC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356D97-02E4-5BF9-F324-A29FA5ABB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DE8AE0-EF42-0CCA-1221-EC5435F09A6F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6D4DF-9C13-DE61-BDCF-CFCCCEEB6A97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10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183A96-1B5E-0057-D34C-38DF18F32AAC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Not Every Low-Performing District Has the Same Problem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96600-304C-2432-1EDC-B275B31BD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788" y="1963993"/>
            <a:ext cx="3700681" cy="2878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32A44A-71DB-76BA-9DAE-61B48059C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660" y="1989614"/>
            <a:ext cx="3700680" cy="2878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E0D43E-37E7-20AF-30D0-A118E2E4ED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31" y="2034780"/>
            <a:ext cx="3613753" cy="280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5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E58A-034B-A52F-2BC5-137A8CBEE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C7BDC-5ADF-00C3-64E1-0DA162027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FFE382-9528-40C9-5177-BE22766A809A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0AE48-BE46-E430-692A-BA3FBB263477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11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350955-2851-DB6C-1077-E4C36114C047}"/>
              </a:ext>
            </a:extLst>
          </p:cNvPr>
          <p:cNvSpPr txBox="1"/>
          <p:nvPr/>
        </p:nvSpPr>
        <p:spPr>
          <a:xfrm>
            <a:off x="1549889" y="566503"/>
            <a:ext cx="948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Performance Trend over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BD3B5-69DB-1DF8-AB7A-31D8C3521D28}"/>
              </a:ext>
            </a:extLst>
          </p:cNvPr>
          <p:cNvSpPr txBox="1"/>
          <p:nvPr/>
        </p:nvSpPr>
        <p:spPr>
          <a:xfrm>
            <a:off x="1201718" y="1124913"/>
            <a:ext cx="94869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Overall BATR15 improved from 75.2% in August to 78.8% in September, then slightly declined to 77.9% in October.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U: Mean BATR increased by 1.74 min from September to October.  Only 0.21 min came from Acceptance, while 1.53 min came from Arrival.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1080B3-130C-B6A9-3585-A9BEBCCCF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85" y="3014505"/>
            <a:ext cx="5085412" cy="29588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247B60-9043-C7BF-B4FA-F1FEE4F81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797" y="3097388"/>
            <a:ext cx="4727204" cy="27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7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F078-8476-8B88-545C-716E80361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1E6ABA-AE54-3D68-74FF-1CD866211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98341F-8A14-12A0-FF80-A34A355E1400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25A36-D6C1-514D-B525-263A4B7D9CA6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12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62001-7E78-EDB6-9D92-B90E4B70B15B}"/>
              </a:ext>
            </a:extLst>
          </p:cNvPr>
          <p:cNvSpPr txBox="1"/>
          <p:nvPr/>
        </p:nvSpPr>
        <p:spPr>
          <a:xfrm>
            <a:off x="1549889" y="566503"/>
            <a:ext cx="948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Performance Trend over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E110E-D083-E148-10CF-0732C20632E0}"/>
              </a:ext>
            </a:extLst>
          </p:cNvPr>
          <p:cNvSpPr txBox="1"/>
          <p:nvPr/>
        </p:nvSpPr>
        <p:spPr>
          <a:xfrm>
            <a:off x="1201718" y="1124913"/>
            <a:ext cx="94869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Overall BATR15 improved from 75.2% in August to 78.8% in September, then slightly declined to 77.9% in October.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U: Mean BATR increased by 1.74 min from September to October.  Only 0.21 min came from Acceptance, while 1.53 min came from Arrival.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A258CE-D0E8-48F2-5EDD-A7EB01999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85" y="3014505"/>
            <a:ext cx="5085412" cy="29588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B3D504-3802-DF82-9DF7-3790222B4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797" y="3097388"/>
            <a:ext cx="4727204" cy="27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12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9C7F5-9E38-4CD2-E321-982B29E7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5DA9F-219D-8E6F-D2AE-880042867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1EF21F-310F-547C-2AB1-D2CAAB7B75E6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A23FB-CFA8-B777-3C40-22DCDD3468B0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13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6E20BE-5105-DD9A-5A8F-2DAEEDE1DAF6}"/>
              </a:ext>
            </a:extLst>
          </p:cNvPr>
          <p:cNvSpPr txBox="1"/>
          <p:nvPr/>
        </p:nvSpPr>
        <p:spPr>
          <a:xfrm>
            <a:off x="1549889" y="566503"/>
            <a:ext cx="948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District-Level Performance and Context-Adjusted Benchmark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16BB4-06B5-75A4-07C4-939DE3D008F9}"/>
              </a:ext>
            </a:extLst>
          </p:cNvPr>
          <p:cNvSpPr txBox="1"/>
          <p:nvPr/>
        </p:nvSpPr>
        <p:spPr>
          <a:xfrm>
            <a:off x="1201718" y="1124913"/>
            <a:ext cx="9486900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Raw BATR15 can be misleading because districts operate under different City × Month × Weekday × Hour conditions.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Each district was therefore compared with other districts under the same operating context, excluding itself from the benchmark.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EF4760-6FD8-BB09-E993-9D7B8A934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581" y="2936038"/>
            <a:ext cx="7998837" cy="313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45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23D0-EA45-3D7B-C401-8F03588C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7D961-8F2A-5430-C3CF-DF6CBBD95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5BB8B-5E5C-F810-4126-BBF4DE682F23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7826B-B740-B982-1D89-A37AF2C51569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14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92513D-F08F-40F6-489B-A03D14C02367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Acceptance Time versus Arrival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21F31-25D2-904F-E86F-EA4FE6E8F58B}"/>
              </a:ext>
            </a:extLst>
          </p:cNvPr>
          <p:cNvSpPr txBox="1"/>
          <p:nvPr/>
        </p:nvSpPr>
        <p:spPr>
          <a:xfrm>
            <a:off x="1201718" y="1124913"/>
            <a:ext cx="9486900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Late orders show a much larger increase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in Acceptance Time than in Arrival 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Time.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In the four main problem districts, 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Acceptance Median increases by 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11–13 min, while Arrival rises only 3–5 min.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These districts account for about 71% of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all late orders in City K.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main source of delay in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City K occurs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before or during the Acceptance Stage,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not during post-acceptance arrival.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30747-BFB7-B0CD-895D-E78852490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004" y="1421522"/>
            <a:ext cx="5611101" cy="445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25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E653-9D67-A79C-38C5-86411C52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3AFC00-B6F5-2F08-C541-4DC798591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EADD22-010B-5360-46EC-06765B4534F3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F13E3-14FF-073B-D623-C672A82B7711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15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7D02C4-D258-D775-7B8F-AE32F3DD4047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District-Hour Hotspots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8E51A-8148-3754-85A9-E09B9ECB3A93}"/>
              </a:ext>
            </a:extLst>
          </p:cNvPr>
          <p:cNvSpPr txBox="1"/>
          <p:nvPr/>
        </p:nvSpPr>
        <p:spPr>
          <a:xfrm>
            <a:off x="1352550" y="1190902"/>
            <a:ext cx="94869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District-level averages can mask short but severe hourly performance issues. Analysis at the District × Hour level reveals several critical hotspots in City K.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>
              <a:lnSpc>
                <a:spcPct val="150000"/>
              </a:lnSpc>
            </a:pP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>
              <a:lnSpc>
                <a:spcPct val="100000"/>
              </a:lnSpc>
            </a:pPr>
            <a:r>
              <a:rPr lang="en-US" dirty="0"/>
              <a:t>Across the major hotspots, </a:t>
            </a:r>
            <a:r>
              <a:rPr lang="en-US" b="1" dirty="0"/>
              <a:t>BATR deterioration is primarily driven by delays in the Acceptance Stage rather than post-acceptance Arrival</a:t>
            </a:r>
            <a:r>
              <a:rPr lang="en-US" dirty="0"/>
              <a:t>, making Acceptance the main operational bottleneck to investigate.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199374-F770-5F9B-394A-4790BC955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159" y="3857618"/>
            <a:ext cx="9541067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6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00C3-CC49-9C2A-B1F2-231E5935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3D51A1-4FFA-FC41-7526-DE9794559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A2AFA0-2E06-56C9-CD4C-415B1299AE07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9387B-5546-F6BD-CED6-85336E32CB52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Page16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9E794-3384-1498-DA6C-83F1F5F6D279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Order Load, Supply and Demand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2BD21-589B-3C4C-00CE-DFD05DF7682F}"/>
              </a:ext>
            </a:extLst>
          </p:cNvPr>
          <p:cNvSpPr txBox="1"/>
          <p:nvPr/>
        </p:nvSpPr>
        <p:spPr>
          <a:xfrm>
            <a:off x="1352550" y="1190902"/>
            <a:ext cx="9486900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Higher local order load is associated with a clear drop in BATR15, especially in key City K districts.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High local demand mainly affects the Acceptance Stage, suggesting a potential supply–demand imbalance.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3F3BA-4EDE-AF36-8AA2-DBE0BB97A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092" y="3652746"/>
            <a:ext cx="8597815" cy="184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17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83E5-C3AF-AF8C-D7CB-876A33E7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5BE955-DB93-4F9C-DCF2-A0668CDC1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A9E76-1412-9769-1B7D-2E3FB0F396F7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D32C8-643F-1A8C-4228-90526C34D53A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17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807407-47D5-6F80-2A8B-6BE863954794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Order Offer Badge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1A227-8322-FBAA-5CE5-31739B54A86E}"/>
              </a:ext>
            </a:extLst>
          </p:cNvPr>
          <p:cNvSpPr txBox="1"/>
          <p:nvPr/>
        </p:nvSpPr>
        <p:spPr>
          <a:xfrm>
            <a:off x="1352550" y="1190902"/>
            <a:ext cx="94869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Delayed Badge orders have dramatically lower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BATR15 (17.6% vs. 89.2% for Normal Badge).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Although only 16.3% of orders are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delayed-badge orders, they account for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 nearly 60% of all Late Orders.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D53417-6338-DCDF-F698-4455784BD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889" y="3537221"/>
            <a:ext cx="3950116" cy="26402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0493D5-0A01-E2E1-50CD-96D2AC331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988" y="3726885"/>
            <a:ext cx="5212853" cy="2564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E7B313-7094-8E0E-9136-5D197ED8F8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57" y="1058946"/>
            <a:ext cx="4712132" cy="274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19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9889-ECFC-047E-11BA-EBFED8B33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43EF57-9CDA-640B-E22D-08EEE86E3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60581-CFAC-8127-F4A7-5B0C654E7B19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4EBA3-B888-A345-DFB9-9D69770EAF2B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18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098FCB-2014-3F9F-D00F-AC27BE20D0CD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Fare, Distance and Fare per Distance</a:t>
            </a:r>
            <a:endParaRPr lang="en-US" sz="2600" b="1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B1E4C1-9228-2678-B644-32E75F204ECF}"/>
              </a:ext>
            </a:extLst>
          </p:cNvPr>
          <p:cNvSpPr txBox="1"/>
          <p:nvPr/>
        </p:nvSpPr>
        <p:spPr>
          <a:xfrm>
            <a:off x="1352550" y="1190902"/>
            <a:ext cx="94869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Longer-distance orders show lower BATR15, but distance refers to restaurant-to-customer distance, not biker-to-restaurant travel.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Higher Fare is also associated with worse BATR15, but this relationship becomes much weaker after controlling for other factors.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Fare per Distance does not show a consistent relationship with BATR15.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3797A-E9F7-0862-BDBC-78D45AC8E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19" y="3320780"/>
            <a:ext cx="5120510" cy="27976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97E4CF-A03C-A51F-C5EB-A157D764D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384" y="3320780"/>
            <a:ext cx="4745721" cy="261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43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CAD6-BC2D-AE81-1519-495DD671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CA8D14-7F75-D82F-258A-CBBF36EE8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82EC8C-4D62-C43C-9215-B3559979F57E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14955-6210-B4B0-442E-64994BF37F24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19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9DA36-B8BC-0F8F-DF9B-C0AEF68826A6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Batch</a:t>
            </a:r>
            <a:endParaRPr lang="en-US" sz="2600" b="1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6AD81-BA08-6AB6-7C43-B23824FD78E1}"/>
              </a:ext>
            </a:extLst>
          </p:cNvPr>
          <p:cNvSpPr txBox="1"/>
          <p:nvPr/>
        </p:nvSpPr>
        <p:spPr>
          <a:xfrm>
            <a:off x="1352550" y="1190902"/>
            <a:ext cx="94869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Raw results suggest Batch Orders perform slightly better (79.5% vs. 77.2% BATR15), but this is driven by selection bias.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After matching and controlling for Badge, Distance, Fare, City and Time, Batch Orders show about 8–9 pp lower BATR15.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result is consistent across cities, but does not prove a causal Batch effect.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D68ADB-681B-BAB6-28FD-D174A922F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55" y="3429000"/>
            <a:ext cx="5197290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9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61C1-EE6B-81B2-13CC-6067D395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C48E36-E299-0D18-6BC2-59C97D6EC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311BD6-EF48-6733-16B4-983CE926965A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190AC-7234-0A12-9004-43019A8B3665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20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7720DA-5813-1BE8-6E89-CE6C215274BF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Different Problems Require Different 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CAEA9-6332-28FA-72A8-5EC8BB009DB4}"/>
              </a:ext>
            </a:extLst>
          </p:cNvPr>
          <p:cNvSpPr txBox="1"/>
          <p:nvPr/>
        </p:nvSpPr>
        <p:spPr>
          <a:xfrm>
            <a:off x="1352550" y="1244116"/>
            <a:ext cx="9486900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analysis shows that low BATR performance is not driven by a single operational issue.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Core City K is mainly an Acceptance-side problem, especially during high-load periods. Orders remain unaccepted for longer, while Arrival Time changes much less.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U-1400 also has a strong Acceptance problem, but it is not explained by higher local Order Load, suggesting an issue in the Offer or Assignment process.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B-3740, in contrast, is mainly an Arrival-side problem, where the delay occurs after the biker has already accepted the order.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operational response should depend on where the delay is actually created.</a:t>
            </a:r>
          </a:p>
        </p:txBody>
      </p:sp>
    </p:spTree>
    <p:extLst>
      <p:ext uri="{BB962C8B-B14F-4D97-AF65-F5344CB8AC3E}">
        <p14:creationId xmlns:p14="http://schemas.microsoft.com/office/powerpoint/2010/main" val="947499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63A1-3303-1896-7E4B-B3AFF9FF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51076-F3B6-7046-0F5A-8CD03FB67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E9EFA2-973A-D26E-926B-43635D66408C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DD294-FB13-39E3-6702-E61AD37DD130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21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A8033A-8672-C6D0-684D-D1FBF2F7B83B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Operational Response by Bottleneck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83E719-1E15-043A-EE87-F74D646E0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878437"/>
              </p:ext>
            </p:extLst>
          </p:nvPr>
        </p:nvGraphicFramePr>
        <p:xfrm>
          <a:off x="641473" y="1388750"/>
          <a:ext cx="10909053" cy="3959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6351">
                  <a:extLst>
                    <a:ext uri="{9D8B030D-6E8A-4147-A177-3AD203B41FA5}">
                      <a16:colId xmlns:a16="http://schemas.microsoft.com/office/drawing/2014/main" val="2690424615"/>
                    </a:ext>
                  </a:extLst>
                </a:gridCol>
                <a:gridCol w="3636351">
                  <a:extLst>
                    <a:ext uri="{9D8B030D-6E8A-4147-A177-3AD203B41FA5}">
                      <a16:colId xmlns:a16="http://schemas.microsoft.com/office/drawing/2014/main" val="2086936686"/>
                    </a:ext>
                  </a:extLst>
                </a:gridCol>
                <a:gridCol w="3636351">
                  <a:extLst>
                    <a:ext uri="{9D8B030D-6E8A-4147-A177-3AD203B41FA5}">
                      <a16:colId xmlns:a16="http://schemas.microsoft.com/office/drawing/2014/main" val="136099418"/>
                    </a:ext>
                  </a:extLst>
                </a:gridCol>
              </a:tblGrid>
              <a:tr h="507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Bottleneck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What We Observe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Recommended Operational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576443"/>
                  </a:ext>
                </a:extLst>
              </a:tr>
              <a:tr h="9418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Acceptance – High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Acceptance Time increases during peak demand, while Arrival changes much less.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Reposition available bikers from nearby areas with spare capacity and intervene before the backlog becomes severe.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760258"/>
                  </a:ext>
                </a:extLst>
              </a:tr>
              <a:tr h="9418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Acceptance – Assignment / Offer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Acceptance remains weak even when local Order Load is not unusually high.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Prioritize aging orders, expand the Offer Pool earlier, and investigate Reject, Ignore, and Re-offer behavior.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939496"/>
                  </a:ext>
                </a:extLst>
              </a:tr>
              <a:tr h="9418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Arrival – Positioning / Mobility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Orders are accepted, but bikers take too long to reach the restaurant.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Prioritize bikers with lower ETA and pre-position available bikers near high-volume Vendor clusters.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55025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14A48E3-4C8D-7038-AF70-8E0D27EEC4DD}"/>
              </a:ext>
            </a:extLst>
          </p:cNvPr>
          <p:cNvSpPr txBox="1"/>
          <p:nvPr/>
        </p:nvSpPr>
        <p:spPr>
          <a:xfrm>
            <a:off x="1170039" y="5348088"/>
            <a:ext cx="10191298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Key Principle: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intervention should match the bottleneck. A single network-wide response can increase cost or shift the problem to another area.</a:t>
            </a:r>
          </a:p>
        </p:txBody>
      </p:sp>
    </p:spTree>
    <p:extLst>
      <p:ext uri="{BB962C8B-B14F-4D97-AF65-F5344CB8AC3E}">
        <p14:creationId xmlns:p14="http://schemas.microsoft.com/office/powerpoint/2010/main" val="833196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C538-7D73-6C9D-12EC-3089ED246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0C45B2-F0AD-3157-8F1E-A56EE30B2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77547A-B98E-C30B-A74A-088F6FA9F896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65671-5376-AC85-74D4-3722D2023DAC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22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31622-A029-654F-8C74-0F84135ED8AF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Different Problems Require Different 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65C33-24C6-9086-B69A-BB3595C89C68}"/>
              </a:ext>
            </a:extLst>
          </p:cNvPr>
          <p:cNvSpPr txBox="1"/>
          <p:nvPr/>
        </p:nvSpPr>
        <p:spPr>
          <a:xfrm>
            <a:off x="1352550" y="1244116"/>
            <a:ext cx="9486900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analysis shows that low BATR performance is not driven by a single operational issue.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Core City K is mainly an Acceptance-side problem, especially during high-load periods. Orders remain unaccepted for longer, while Arrival Time changes much less.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U-1400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also has a strong Acceptance problem, but it is not explained by higher local Order Load, suggesting an issue in the Offer or Assignment process.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B-3740, in contrast, is mainly an Arrival-side problem, where the delay occurs after the biker has already accepted the order.</a:t>
            </a:r>
            <a:endParaRPr lang="fa-IR" dirty="0">
              <a:solidFill>
                <a:schemeClr val="tx1">
                  <a:lumMod val="75000"/>
                  <a:lumOff val="25000"/>
                </a:schemeClr>
              </a:solidFill>
              <a:cs typeface="B Nazanin" panose="00000400000000000000" pitchFamily="2" charset="-78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The operational response should depend on where the delay is actually created.</a:t>
            </a:r>
          </a:p>
        </p:txBody>
      </p:sp>
    </p:spTree>
    <p:extLst>
      <p:ext uri="{BB962C8B-B14F-4D97-AF65-F5344CB8AC3E}">
        <p14:creationId xmlns:p14="http://schemas.microsoft.com/office/powerpoint/2010/main" val="3632005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96C6-D37E-F3B9-5CE0-19825732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D0AC46-3EE8-6AEA-502D-B9A60C43A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FE1338-00E8-D26D-FE30-6F2C2A5EC8AF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656AD-05B1-FA57-24E0-61091B01E2E4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23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B9BAA1-39DA-FA5A-99BA-6891279328D5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From Monitoring to Early Intervention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FB7AC-F7A1-6D4C-5638-173B205BEBE9}"/>
              </a:ext>
            </a:extLst>
          </p:cNvPr>
          <p:cNvSpPr txBox="1"/>
          <p:nvPr/>
        </p:nvSpPr>
        <p:spPr>
          <a:xfrm>
            <a:off x="1352550" y="1244116"/>
            <a:ext cx="9486900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dashboard provides the operational monitoring layer, while the next step is to make the process increasingly proactive.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five core KPIs provide early signals of deterioration. For example: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Acceptance P90 &gt; 8 min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indicates growing Acceptance pressure.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Delayed Offer Rate &gt; 5%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provide an early warning of deterioration in the Offer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Arrival P90 &gt; 10 min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indicates increasing post-Acceptance travel pressure. 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addition, the predictive model can identify orders with a high probability of BATR15 failure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before the failure occurs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model achieved 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ROC-AUC of 0.858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66.9% Late-order Recall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suggesting that it can be used as an additional Early-Warning Layer rather than as a replacement for operational KPIs.</a:t>
            </a:r>
          </a:p>
        </p:txBody>
      </p:sp>
    </p:spTree>
    <p:extLst>
      <p:ext uri="{BB962C8B-B14F-4D97-AF65-F5344CB8AC3E}">
        <p14:creationId xmlns:p14="http://schemas.microsoft.com/office/powerpoint/2010/main" val="3129836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7EEE-099E-618D-6CBC-43BAC036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C91D5D-E691-9612-5368-0A08891B5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97F5E3-D6E8-4294-1D47-E29CFE129984}"/>
              </a:ext>
            </a:extLst>
          </p:cNvPr>
          <p:cNvSpPr txBox="1"/>
          <p:nvPr/>
        </p:nvSpPr>
        <p:spPr>
          <a:xfrm>
            <a:off x="294725" y="6412135"/>
            <a:ext cx="107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Mahdi Aghaei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F1C6D-B784-C7CF-5A79-D36814E73CF1}"/>
              </a:ext>
            </a:extLst>
          </p:cNvPr>
          <p:cNvSpPr txBox="1"/>
          <p:nvPr/>
        </p:nvSpPr>
        <p:spPr>
          <a:xfrm>
            <a:off x="10889226" y="6419692"/>
            <a:ext cx="98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24 of 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34650-79E8-4070-4362-9CD60C9F7394}"/>
              </a:ext>
            </a:extLst>
          </p:cNvPr>
          <p:cNvSpPr txBox="1"/>
          <p:nvPr/>
        </p:nvSpPr>
        <p:spPr>
          <a:xfrm>
            <a:off x="1549889" y="566503"/>
            <a:ext cx="9486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Nazanin" panose="00000400000000000000" pitchFamily="2" charset="-78"/>
              </a:rPr>
              <a:t>Recommended Next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A6826E-2F3B-2209-7B8B-0C1425679A82}"/>
              </a:ext>
            </a:extLst>
          </p:cNvPr>
          <p:cNvSpPr txBox="1"/>
          <p:nvPr/>
        </p:nvSpPr>
        <p:spPr>
          <a:xfrm>
            <a:off x="1352550" y="1244116"/>
            <a:ext cx="94869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analysis suggests moving from a single network-wide response toward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targeted, bottleneck-based operational interventions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would start with three focused pilots: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K-1480 </a:t>
            </a:r>
            <a:r>
              <a:rPr lang="fa-I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Peak-Hour Supply Repositioning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biker repositioning before Dinner Peak when Acceptance pressure begins to rise.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K-1512 / K-1528 </a:t>
            </a:r>
            <a:r>
              <a:rPr lang="fa-I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Earlier Offer-Pool Expansion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Intervene before orders enter severe delay by prioritizing aging orders and expanding assignment earlier.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B-3740 </a:t>
            </a:r>
            <a:r>
              <a:rPr lang="fa-I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ETA-Based Assignment &amp; Pre-positioning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Prioritize better-positioned bikers and move available Supply closer to high-volume Vendor clusters.</a:t>
            </a:r>
            <a:b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pilot should be tested on a limited scale, compared with a Control or historical baseline, and expanded only when the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target KPI improves without unacceptable increases in Cost or deterioration in neighboring areas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20325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9138</TotalTime>
  <Words>1952</Words>
  <Application>Microsoft Office PowerPoint</Application>
  <PresentationFormat>Widescreen</PresentationFormat>
  <Paragraphs>197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B Nazanin</vt:lpstr>
      <vt:lpstr>Calibri</vt:lpstr>
      <vt:lpstr>Office Theme</vt:lpstr>
      <vt:lpstr>Kmlp;[‘];lmk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39</cp:revision>
  <dcterms:created xsi:type="dcterms:W3CDTF">2026-08-20T22:51:00Z</dcterms:created>
  <dcterms:modified xsi:type="dcterms:W3CDTF">2026-09-10T12:50:17Z</dcterms:modified>
</cp:coreProperties>
</file>